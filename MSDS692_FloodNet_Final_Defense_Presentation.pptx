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1" r:id="rId2"/>
    <p:sldId id="256" r:id="rId3"/>
    <p:sldId id="258" r:id="rId4"/>
    <p:sldId id="259" r:id="rId5"/>
    <p:sldId id="257" r:id="rId6"/>
    <p:sldId id="260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.cityofnewyork.us/Environment/FloodNet-Sensor-Deployment-Metadata/kb2e-tjy3" TargetMode="External"/><Relationship Id="rId2" Type="http://schemas.openxmlformats.org/officeDocument/2006/relationships/hyperlink" Target="https://data.cityofnewyork.us/Environment/FloodNet-Street-Flooding-Events-Measured-by-FloodNet-Sensors/aq7i-eu5q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floodnet.nyc/methodology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1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8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8503920" y="658368"/>
            <a:ext cx="2971800" cy="5394960"/>
          </a:xfrm>
          <a:prstGeom prst="roundRect">
            <a:avLst>
              <a:gd name="adj" fmla="val 12000"/>
            </a:avLst>
          </a:prstGeom>
          <a:solidFill>
            <a:srgbClr val="1F415E"/>
          </a:solidFill>
          <a:ln w="6350">
            <a:solidFill>
              <a:srgbClr val="1F41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823960" y="2743200"/>
            <a:ext cx="457200" cy="2148840"/>
          </a:xfrm>
          <a:prstGeom prst="rect">
            <a:avLst/>
          </a:prstGeom>
          <a:solidFill>
            <a:srgbClr val="2B506C"/>
          </a:solidFill>
          <a:ln w="7620">
            <a:solidFill>
              <a:srgbClr val="486E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915400" y="2971800"/>
            <a:ext cx="50292" cy="64008"/>
          </a:xfrm>
          <a:prstGeom prst="rect">
            <a:avLst/>
          </a:prstGeom>
          <a:solidFill>
            <a:srgbClr val="E1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9116568" y="2971800"/>
            <a:ext cx="50292" cy="64008"/>
          </a:xfrm>
          <a:prstGeom prst="rect">
            <a:avLst/>
          </a:prstGeom>
          <a:solidFill>
            <a:srgbClr val="E1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915400" y="3246120"/>
            <a:ext cx="50292" cy="64008"/>
          </a:xfrm>
          <a:prstGeom prst="rect">
            <a:avLst/>
          </a:prstGeom>
          <a:solidFill>
            <a:srgbClr val="E1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116568" y="3246120"/>
            <a:ext cx="50292" cy="64008"/>
          </a:xfrm>
          <a:prstGeom prst="rect">
            <a:avLst/>
          </a:prstGeom>
          <a:solidFill>
            <a:srgbClr val="E1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915400" y="3520440"/>
            <a:ext cx="50292" cy="64008"/>
          </a:xfrm>
          <a:prstGeom prst="rect">
            <a:avLst/>
          </a:prstGeom>
          <a:solidFill>
            <a:srgbClr val="E1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9116568" y="3520440"/>
            <a:ext cx="50292" cy="64008"/>
          </a:xfrm>
          <a:prstGeom prst="rect">
            <a:avLst/>
          </a:prstGeom>
          <a:solidFill>
            <a:srgbClr val="E1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915400" y="3794760"/>
            <a:ext cx="50292" cy="64008"/>
          </a:xfrm>
          <a:prstGeom prst="rect">
            <a:avLst/>
          </a:prstGeom>
          <a:solidFill>
            <a:srgbClr val="E1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116568" y="3794760"/>
            <a:ext cx="50292" cy="64008"/>
          </a:xfrm>
          <a:prstGeom prst="rect">
            <a:avLst/>
          </a:prstGeom>
          <a:solidFill>
            <a:srgbClr val="E1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915400" y="4069080"/>
            <a:ext cx="50292" cy="64008"/>
          </a:xfrm>
          <a:prstGeom prst="rect">
            <a:avLst/>
          </a:prstGeom>
          <a:solidFill>
            <a:srgbClr val="E1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9116568" y="4069080"/>
            <a:ext cx="50292" cy="64008"/>
          </a:xfrm>
          <a:prstGeom prst="rect">
            <a:avLst/>
          </a:prstGeom>
          <a:solidFill>
            <a:srgbClr val="E1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915400" y="4343400"/>
            <a:ext cx="50292" cy="64008"/>
          </a:xfrm>
          <a:prstGeom prst="rect">
            <a:avLst/>
          </a:prstGeom>
          <a:solidFill>
            <a:srgbClr val="E1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9116568" y="4343400"/>
            <a:ext cx="50292" cy="64008"/>
          </a:xfrm>
          <a:prstGeom prst="rect">
            <a:avLst/>
          </a:prstGeom>
          <a:solidFill>
            <a:srgbClr val="E1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915400" y="4617720"/>
            <a:ext cx="50292" cy="64008"/>
          </a:xfrm>
          <a:prstGeom prst="rect">
            <a:avLst/>
          </a:prstGeom>
          <a:solidFill>
            <a:srgbClr val="E1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9116568" y="4617720"/>
            <a:ext cx="50292" cy="64008"/>
          </a:xfrm>
          <a:prstGeom prst="rect">
            <a:avLst/>
          </a:prstGeom>
          <a:solidFill>
            <a:srgbClr val="E1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9372600" y="1965960"/>
            <a:ext cx="658368" cy="2926080"/>
          </a:xfrm>
          <a:prstGeom prst="rect">
            <a:avLst/>
          </a:prstGeom>
          <a:solidFill>
            <a:srgbClr val="2B506C"/>
          </a:solidFill>
          <a:ln w="7620">
            <a:solidFill>
              <a:srgbClr val="486E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9464040" y="2194560"/>
            <a:ext cx="50292" cy="64008"/>
          </a:xfrm>
          <a:prstGeom prst="rect">
            <a:avLst/>
          </a:prstGeom>
          <a:solidFill>
            <a:srgbClr val="E1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9866376" y="2194560"/>
            <a:ext cx="50292" cy="64008"/>
          </a:xfrm>
          <a:prstGeom prst="rect">
            <a:avLst/>
          </a:prstGeom>
          <a:solidFill>
            <a:srgbClr val="E1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9464040" y="2468880"/>
            <a:ext cx="50292" cy="64008"/>
          </a:xfrm>
          <a:prstGeom prst="rect">
            <a:avLst/>
          </a:prstGeom>
          <a:solidFill>
            <a:srgbClr val="E1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9866376" y="2468880"/>
            <a:ext cx="50292" cy="64008"/>
          </a:xfrm>
          <a:prstGeom prst="rect">
            <a:avLst/>
          </a:prstGeom>
          <a:solidFill>
            <a:srgbClr val="E1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9464040" y="2743200"/>
            <a:ext cx="50292" cy="64008"/>
          </a:xfrm>
          <a:prstGeom prst="rect">
            <a:avLst/>
          </a:prstGeom>
          <a:solidFill>
            <a:srgbClr val="E1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9866376" y="2743200"/>
            <a:ext cx="50292" cy="64008"/>
          </a:xfrm>
          <a:prstGeom prst="rect">
            <a:avLst/>
          </a:prstGeom>
          <a:solidFill>
            <a:srgbClr val="E1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9464040" y="3017520"/>
            <a:ext cx="50292" cy="64008"/>
          </a:xfrm>
          <a:prstGeom prst="rect">
            <a:avLst/>
          </a:prstGeom>
          <a:solidFill>
            <a:srgbClr val="E1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9866376" y="3017520"/>
            <a:ext cx="50292" cy="64008"/>
          </a:xfrm>
          <a:prstGeom prst="rect">
            <a:avLst/>
          </a:prstGeom>
          <a:solidFill>
            <a:srgbClr val="E1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9464040" y="3291839"/>
            <a:ext cx="50292" cy="64008"/>
          </a:xfrm>
          <a:prstGeom prst="rect">
            <a:avLst/>
          </a:prstGeom>
          <a:solidFill>
            <a:srgbClr val="E1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9866376" y="3291839"/>
            <a:ext cx="50292" cy="64008"/>
          </a:xfrm>
          <a:prstGeom prst="rect">
            <a:avLst/>
          </a:prstGeom>
          <a:solidFill>
            <a:srgbClr val="E1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9464040" y="3566160"/>
            <a:ext cx="50292" cy="64008"/>
          </a:xfrm>
          <a:prstGeom prst="rect">
            <a:avLst/>
          </a:prstGeom>
          <a:solidFill>
            <a:srgbClr val="E1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9866376" y="3566160"/>
            <a:ext cx="50292" cy="64008"/>
          </a:xfrm>
          <a:prstGeom prst="rect">
            <a:avLst/>
          </a:prstGeom>
          <a:solidFill>
            <a:srgbClr val="E1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9464040" y="3840479"/>
            <a:ext cx="50292" cy="64008"/>
          </a:xfrm>
          <a:prstGeom prst="rect">
            <a:avLst/>
          </a:prstGeom>
          <a:solidFill>
            <a:srgbClr val="E1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9866376" y="3840479"/>
            <a:ext cx="50292" cy="64008"/>
          </a:xfrm>
          <a:prstGeom prst="rect">
            <a:avLst/>
          </a:prstGeom>
          <a:solidFill>
            <a:srgbClr val="E1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9464040" y="4114800"/>
            <a:ext cx="50292" cy="64008"/>
          </a:xfrm>
          <a:prstGeom prst="rect">
            <a:avLst/>
          </a:prstGeom>
          <a:solidFill>
            <a:srgbClr val="E1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9866376" y="4114800"/>
            <a:ext cx="50292" cy="64008"/>
          </a:xfrm>
          <a:prstGeom prst="rect">
            <a:avLst/>
          </a:prstGeom>
          <a:solidFill>
            <a:srgbClr val="E1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9464040" y="4389120"/>
            <a:ext cx="50292" cy="64008"/>
          </a:xfrm>
          <a:prstGeom prst="rect">
            <a:avLst/>
          </a:prstGeom>
          <a:solidFill>
            <a:srgbClr val="E1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9866376" y="4389120"/>
            <a:ext cx="50292" cy="64008"/>
          </a:xfrm>
          <a:prstGeom prst="rect">
            <a:avLst/>
          </a:prstGeom>
          <a:solidFill>
            <a:srgbClr val="E1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10149840" y="2432304"/>
            <a:ext cx="475488" cy="2459736"/>
          </a:xfrm>
          <a:prstGeom prst="rect">
            <a:avLst/>
          </a:prstGeom>
          <a:solidFill>
            <a:srgbClr val="2B506C"/>
          </a:solidFill>
          <a:ln w="7620">
            <a:solidFill>
              <a:srgbClr val="486E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10241280" y="2660904"/>
            <a:ext cx="50292" cy="64008"/>
          </a:xfrm>
          <a:prstGeom prst="rect">
            <a:avLst/>
          </a:prstGeom>
          <a:solidFill>
            <a:srgbClr val="E1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10460736" y="2660904"/>
            <a:ext cx="50292" cy="64008"/>
          </a:xfrm>
          <a:prstGeom prst="rect">
            <a:avLst/>
          </a:prstGeom>
          <a:solidFill>
            <a:srgbClr val="E1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10241280" y="2935224"/>
            <a:ext cx="50292" cy="64008"/>
          </a:xfrm>
          <a:prstGeom prst="rect">
            <a:avLst/>
          </a:prstGeom>
          <a:solidFill>
            <a:srgbClr val="E1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10460736" y="2935224"/>
            <a:ext cx="50292" cy="64008"/>
          </a:xfrm>
          <a:prstGeom prst="rect">
            <a:avLst/>
          </a:prstGeom>
          <a:solidFill>
            <a:srgbClr val="E1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10241280" y="3209544"/>
            <a:ext cx="50292" cy="64008"/>
          </a:xfrm>
          <a:prstGeom prst="rect">
            <a:avLst/>
          </a:prstGeom>
          <a:solidFill>
            <a:srgbClr val="E1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10460736" y="3209544"/>
            <a:ext cx="50292" cy="64008"/>
          </a:xfrm>
          <a:prstGeom prst="rect">
            <a:avLst/>
          </a:prstGeom>
          <a:solidFill>
            <a:srgbClr val="E1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10241280" y="3483864"/>
            <a:ext cx="50292" cy="64008"/>
          </a:xfrm>
          <a:prstGeom prst="rect">
            <a:avLst/>
          </a:prstGeom>
          <a:solidFill>
            <a:srgbClr val="E1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10460736" y="3483864"/>
            <a:ext cx="50292" cy="64008"/>
          </a:xfrm>
          <a:prstGeom prst="rect">
            <a:avLst/>
          </a:prstGeom>
          <a:solidFill>
            <a:srgbClr val="E1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10241280" y="3758184"/>
            <a:ext cx="50292" cy="64008"/>
          </a:xfrm>
          <a:prstGeom prst="rect">
            <a:avLst/>
          </a:prstGeom>
          <a:solidFill>
            <a:srgbClr val="E1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10460736" y="3758184"/>
            <a:ext cx="50292" cy="64008"/>
          </a:xfrm>
          <a:prstGeom prst="rect">
            <a:avLst/>
          </a:prstGeom>
          <a:solidFill>
            <a:srgbClr val="E1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10241280" y="4032504"/>
            <a:ext cx="50292" cy="64008"/>
          </a:xfrm>
          <a:prstGeom prst="rect">
            <a:avLst/>
          </a:prstGeom>
          <a:solidFill>
            <a:srgbClr val="E1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10460736" y="4032504"/>
            <a:ext cx="50292" cy="64008"/>
          </a:xfrm>
          <a:prstGeom prst="rect">
            <a:avLst/>
          </a:prstGeom>
          <a:solidFill>
            <a:srgbClr val="E1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10241280" y="4306824"/>
            <a:ext cx="50292" cy="64008"/>
          </a:xfrm>
          <a:prstGeom prst="rect">
            <a:avLst/>
          </a:prstGeom>
          <a:solidFill>
            <a:srgbClr val="E1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10460736" y="4306824"/>
            <a:ext cx="50292" cy="64008"/>
          </a:xfrm>
          <a:prstGeom prst="rect">
            <a:avLst/>
          </a:prstGeom>
          <a:solidFill>
            <a:srgbClr val="E1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10241280" y="4581144"/>
            <a:ext cx="50292" cy="64008"/>
          </a:xfrm>
          <a:prstGeom prst="rect">
            <a:avLst/>
          </a:prstGeom>
          <a:solidFill>
            <a:srgbClr val="E1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10460736" y="4581144"/>
            <a:ext cx="50292" cy="64008"/>
          </a:xfrm>
          <a:prstGeom prst="rect">
            <a:avLst/>
          </a:prstGeom>
          <a:solidFill>
            <a:srgbClr val="E1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10716768" y="1554480"/>
            <a:ext cx="530352" cy="3337560"/>
          </a:xfrm>
          <a:prstGeom prst="rect">
            <a:avLst/>
          </a:prstGeom>
          <a:solidFill>
            <a:srgbClr val="2B506C"/>
          </a:solidFill>
          <a:ln w="7620">
            <a:solidFill>
              <a:srgbClr val="486E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10808208" y="1783080"/>
            <a:ext cx="50292" cy="64008"/>
          </a:xfrm>
          <a:prstGeom prst="rect">
            <a:avLst/>
          </a:prstGeom>
          <a:solidFill>
            <a:srgbClr val="E1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11082528" y="1783080"/>
            <a:ext cx="50292" cy="64008"/>
          </a:xfrm>
          <a:prstGeom prst="rect">
            <a:avLst/>
          </a:prstGeom>
          <a:solidFill>
            <a:srgbClr val="E1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10808208" y="2057400"/>
            <a:ext cx="50292" cy="64008"/>
          </a:xfrm>
          <a:prstGeom prst="rect">
            <a:avLst/>
          </a:prstGeom>
          <a:solidFill>
            <a:srgbClr val="E1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11082528" y="2057400"/>
            <a:ext cx="50292" cy="64008"/>
          </a:xfrm>
          <a:prstGeom prst="rect">
            <a:avLst/>
          </a:prstGeom>
          <a:solidFill>
            <a:srgbClr val="E1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10808208" y="2331720"/>
            <a:ext cx="50292" cy="64008"/>
          </a:xfrm>
          <a:prstGeom prst="rect">
            <a:avLst/>
          </a:prstGeom>
          <a:solidFill>
            <a:srgbClr val="E1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11082528" y="2331720"/>
            <a:ext cx="50292" cy="64008"/>
          </a:xfrm>
          <a:prstGeom prst="rect">
            <a:avLst/>
          </a:prstGeom>
          <a:solidFill>
            <a:srgbClr val="E1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10808208" y="2606039"/>
            <a:ext cx="50292" cy="64008"/>
          </a:xfrm>
          <a:prstGeom prst="rect">
            <a:avLst/>
          </a:prstGeom>
          <a:solidFill>
            <a:srgbClr val="E1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11082528" y="2606039"/>
            <a:ext cx="50292" cy="64008"/>
          </a:xfrm>
          <a:prstGeom prst="rect">
            <a:avLst/>
          </a:prstGeom>
          <a:solidFill>
            <a:srgbClr val="E1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10808208" y="2880360"/>
            <a:ext cx="50292" cy="64008"/>
          </a:xfrm>
          <a:prstGeom prst="rect">
            <a:avLst/>
          </a:prstGeom>
          <a:solidFill>
            <a:srgbClr val="E1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11082528" y="2880360"/>
            <a:ext cx="50292" cy="64008"/>
          </a:xfrm>
          <a:prstGeom prst="rect">
            <a:avLst/>
          </a:prstGeom>
          <a:solidFill>
            <a:srgbClr val="E1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10808208" y="3154680"/>
            <a:ext cx="50292" cy="64008"/>
          </a:xfrm>
          <a:prstGeom prst="rect">
            <a:avLst/>
          </a:prstGeom>
          <a:solidFill>
            <a:srgbClr val="E1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11082528" y="3154680"/>
            <a:ext cx="50292" cy="64008"/>
          </a:xfrm>
          <a:prstGeom prst="rect">
            <a:avLst/>
          </a:prstGeom>
          <a:solidFill>
            <a:srgbClr val="E1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Rectangle 67"/>
          <p:cNvSpPr/>
          <p:nvPr/>
        </p:nvSpPr>
        <p:spPr>
          <a:xfrm>
            <a:off x="10808208" y="3429000"/>
            <a:ext cx="50292" cy="64008"/>
          </a:xfrm>
          <a:prstGeom prst="rect">
            <a:avLst/>
          </a:prstGeom>
          <a:solidFill>
            <a:srgbClr val="E1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Rectangle 68"/>
          <p:cNvSpPr/>
          <p:nvPr/>
        </p:nvSpPr>
        <p:spPr>
          <a:xfrm>
            <a:off x="11082528" y="3429000"/>
            <a:ext cx="50292" cy="64008"/>
          </a:xfrm>
          <a:prstGeom prst="rect">
            <a:avLst/>
          </a:prstGeom>
          <a:solidFill>
            <a:srgbClr val="E1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10808208" y="3703320"/>
            <a:ext cx="50292" cy="64008"/>
          </a:xfrm>
          <a:prstGeom prst="rect">
            <a:avLst/>
          </a:prstGeom>
          <a:solidFill>
            <a:srgbClr val="E1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Rectangle 70"/>
          <p:cNvSpPr/>
          <p:nvPr/>
        </p:nvSpPr>
        <p:spPr>
          <a:xfrm>
            <a:off x="11082528" y="3703320"/>
            <a:ext cx="50292" cy="64008"/>
          </a:xfrm>
          <a:prstGeom prst="rect">
            <a:avLst/>
          </a:prstGeom>
          <a:solidFill>
            <a:srgbClr val="E1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Rectangle 71"/>
          <p:cNvSpPr/>
          <p:nvPr/>
        </p:nvSpPr>
        <p:spPr>
          <a:xfrm>
            <a:off x="10808208" y="3977639"/>
            <a:ext cx="50292" cy="64008"/>
          </a:xfrm>
          <a:prstGeom prst="rect">
            <a:avLst/>
          </a:prstGeom>
          <a:solidFill>
            <a:srgbClr val="E1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Rectangle 72"/>
          <p:cNvSpPr/>
          <p:nvPr/>
        </p:nvSpPr>
        <p:spPr>
          <a:xfrm>
            <a:off x="11082528" y="3977639"/>
            <a:ext cx="50292" cy="64008"/>
          </a:xfrm>
          <a:prstGeom prst="rect">
            <a:avLst/>
          </a:prstGeom>
          <a:solidFill>
            <a:srgbClr val="E1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Rectangle 73"/>
          <p:cNvSpPr/>
          <p:nvPr/>
        </p:nvSpPr>
        <p:spPr>
          <a:xfrm>
            <a:off x="11283696" y="2514600"/>
            <a:ext cx="246888" cy="2377440"/>
          </a:xfrm>
          <a:prstGeom prst="rect">
            <a:avLst/>
          </a:prstGeom>
          <a:solidFill>
            <a:srgbClr val="2B506C"/>
          </a:solidFill>
          <a:ln w="7620">
            <a:solidFill>
              <a:srgbClr val="486E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Rectangle 74"/>
          <p:cNvSpPr/>
          <p:nvPr/>
        </p:nvSpPr>
        <p:spPr>
          <a:xfrm>
            <a:off x="11375136" y="2743200"/>
            <a:ext cx="50292" cy="64008"/>
          </a:xfrm>
          <a:prstGeom prst="rect">
            <a:avLst/>
          </a:prstGeom>
          <a:solidFill>
            <a:srgbClr val="E1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Rectangle 75"/>
          <p:cNvSpPr/>
          <p:nvPr/>
        </p:nvSpPr>
        <p:spPr>
          <a:xfrm>
            <a:off x="11365992" y="2743200"/>
            <a:ext cx="50292" cy="64008"/>
          </a:xfrm>
          <a:prstGeom prst="rect">
            <a:avLst/>
          </a:prstGeom>
          <a:solidFill>
            <a:srgbClr val="E1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" name="Rectangle 76"/>
          <p:cNvSpPr/>
          <p:nvPr/>
        </p:nvSpPr>
        <p:spPr>
          <a:xfrm>
            <a:off x="11375136" y="3017520"/>
            <a:ext cx="50292" cy="64008"/>
          </a:xfrm>
          <a:prstGeom prst="rect">
            <a:avLst/>
          </a:prstGeom>
          <a:solidFill>
            <a:srgbClr val="E1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Rectangle 77"/>
          <p:cNvSpPr/>
          <p:nvPr/>
        </p:nvSpPr>
        <p:spPr>
          <a:xfrm>
            <a:off x="11365992" y="3017520"/>
            <a:ext cx="50292" cy="64008"/>
          </a:xfrm>
          <a:prstGeom prst="rect">
            <a:avLst/>
          </a:prstGeom>
          <a:solidFill>
            <a:srgbClr val="E1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" name="Rectangle 78"/>
          <p:cNvSpPr/>
          <p:nvPr/>
        </p:nvSpPr>
        <p:spPr>
          <a:xfrm>
            <a:off x="11375136" y="3291840"/>
            <a:ext cx="50292" cy="64008"/>
          </a:xfrm>
          <a:prstGeom prst="rect">
            <a:avLst/>
          </a:prstGeom>
          <a:solidFill>
            <a:srgbClr val="E1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" name="Rectangle 79"/>
          <p:cNvSpPr/>
          <p:nvPr/>
        </p:nvSpPr>
        <p:spPr>
          <a:xfrm>
            <a:off x="11365992" y="3291840"/>
            <a:ext cx="50292" cy="64008"/>
          </a:xfrm>
          <a:prstGeom prst="rect">
            <a:avLst/>
          </a:prstGeom>
          <a:solidFill>
            <a:srgbClr val="E1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" name="Rectangle 80"/>
          <p:cNvSpPr/>
          <p:nvPr/>
        </p:nvSpPr>
        <p:spPr>
          <a:xfrm>
            <a:off x="11375136" y="3566160"/>
            <a:ext cx="50292" cy="64008"/>
          </a:xfrm>
          <a:prstGeom prst="rect">
            <a:avLst/>
          </a:prstGeom>
          <a:solidFill>
            <a:srgbClr val="E1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2" name="Rectangle 81"/>
          <p:cNvSpPr/>
          <p:nvPr/>
        </p:nvSpPr>
        <p:spPr>
          <a:xfrm>
            <a:off x="11365992" y="3566160"/>
            <a:ext cx="50292" cy="64008"/>
          </a:xfrm>
          <a:prstGeom prst="rect">
            <a:avLst/>
          </a:prstGeom>
          <a:solidFill>
            <a:srgbClr val="E1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" name="Rectangle 82"/>
          <p:cNvSpPr/>
          <p:nvPr/>
        </p:nvSpPr>
        <p:spPr>
          <a:xfrm>
            <a:off x="11375136" y="3840480"/>
            <a:ext cx="50292" cy="64008"/>
          </a:xfrm>
          <a:prstGeom prst="rect">
            <a:avLst/>
          </a:prstGeom>
          <a:solidFill>
            <a:srgbClr val="E1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11365992" y="3840480"/>
            <a:ext cx="50292" cy="64008"/>
          </a:xfrm>
          <a:prstGeom prst="rect">
            <a:avLst/>
          </a:prstGeom>
          <a:solidFill>
            <a:srgbClr val="E1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Rectangle 84"/>
          <p:cNvSpPr/>
          <p:nvPr/>
        </p:nvSpPr>
        <p:spPr>
          <a:xfrm>
            <a:off x="11375136" y="4114800"/>
            <a:ext cx="50292" cy="64008"/>
          </a:xfrm>
          <a:prstGeom prst="rect">
            <a:avLst/>
          </a:prstGeom>
          <a:solidFill>
            <a:srgbClr val="E1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Rectangle 85"/>
          <p:cNvSpPr/>
          <p:nvPr/>
        </p:nvSpPr>
        <p:spPr>
          <a:xfrm>
            <a:off x="11365992" y="4114800"/>
            <a:ext cx="50292" cy="64008"/>
          </a:xfrm>
          <a:prstGeom prst="rect">
            <a:avLst/>
          </a:prstGeom>
          <a:solidFill>
            <a:srgbClr val="E1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Rectangle 86"/>
          <p:cNvSpPr/>
          <p:nvPr/>
        </p:nvSpPr>
        <p:spPr>
          <a:xfrm>
            <a:off x="11375136" y="4389120"/>
            <a:ext cx="50292" cy="64008"/>
          </a:xfrm>
          <a:prstGeom prst="rect">
            <a:avLst/>
          </a:prstGeom>
          <a:solidFill>
            <a:srgbClr val="E1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Rectangle 87"/>
          <p:cNvSpPr/>
          <p:nvPr/>
        </p:nvSpPr>
        <p:spPr>
          <a:xfrm>
            <a:off x="11365992" y="4389120"/>
            <a:ext cx="50292" cy="64008"/>
          </a:xfrm>
          <a:prstGeom prst="rect">
            <a:avLst/>
          </a:prstGeom>
          <a:solidFill>
            <a:srgbClr val="E1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9" name="Rectangle 88"/>
          <p:cNvSpPr/>
          <p:nvPr/>
        </p:nvSpPr>
        <p:spPr>
          <a:xfrm>
            <a:off x="11375136" y="4663440"/>
            <a:ext cx="50292" cy="64008"/>
          </a:xfrm>
          <a:prstGeom prst="rect">
            <a:avLst/>
          </a:prstGeom>
          <a:solidFill>
            <a:srgbClr val="E1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0" name="Rectangle 89"/>
          <p:cNvSpPr/>
          <p:nvPr/>
        </p:nvSpPr>
        <p:spPr>
          <a:xfrm>
            <a:off x="11365992" y="4663440"/>
            <a:ext cx="50292" cy="64008"/>
          </a:xfrm>
          <a:prstGeom prst="rect">
            <a:avLst/>
          </a:prstGeom>
          <a:solidFill>
            <a:srgbClr val="E1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1" name="Rectangle 90"/>
          <p:cNvSpPr/>
          <p:nvPr/>
        </p:nvSpPr>
        <p:spPr>
          <a:xfrm>
            <a:off x="8759952" y="5074920"/>
            <a:ext cx="2651760" cy="22860"/>
          </a:xfrm>
          <a:prstGeom prst="rect">
            <a:avLst/>
          </a:prstGeom>
          <a:solidFill>
            <a:srgbClr val="008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" name="Rectangle 91"/>
          <p:cNvSpPr/>
          <p:nvPr/>
        </p:nvSpPr>
        <p:spPr>
          <a:xfrm>
            <a:off x="8759952" y="5321808"/>
            <a:ext cx="2487168" cy="22860"/>
          </a:xfrm>
          <a:prstGeom prst="rect">
            <a:avLst/>
          </a:prstGeom>
          <a:solidFill>
            <a:srgbClr val="008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3" name="Rectangle 92"/>
          <p:cNvSpPr/>
          <p:nvPr/>
        </p:nvSpPr>
        <p:spPr>
          <a:xfrm>
            <a:off x="8759952" y="5568696"/>
            <a:ext cx="2322576" cy="22860"/>
          </a:xfrm>
          <a:prstGeom prst="rect">
            <a:avLst/>
          </a:prstGeom>
          <a:solidFill>
            <a:srgbClr val="008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4" name="Oval 93"/>
          <p:cNvSpPr/>
          <p:nvPr/>
        </p:nvSpPr>
        <p:spPr>
          <a:xfrm>
            <a:off x="9738360" y="1161288"/>
            <a:ext cx="228600" cy="228600"/>
          </a:xfrm>
          <a:prstGeom prst="ellipse">
            <a:avLst/>
          </a:prstGeom>
          <a:solidFill>
            <a:srgbClr val="C25232"/>
          </a:solidFill>
          <a:ln w="177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713232" y="728909"/>
            <a:ext cx="7223760" cy="224677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7FDDD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MSDS 692  •  DATA SCIENCE PRACTICUM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94944" y="1280160"/>
            <a:ext cx="7132320" cy="70408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42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FloodNet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31520" y="2193896"/>
            <a:ext cx="7132320" cy="924869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Prioritizing NYC Street-Flooding</a:t>
            </a:r>
          </a:p>
          <a:p>
            <a:pPr algn="l">
              <a:spcAft>
                <a:spcPts val="300"/>
              </a:spcAft>
            </a:pPr>
            <a:r>
              <a:rPr sz="27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Monitoring with Sensor Evidence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49808" y="3438144"/>
            <a:ext cx="6858000" cy="54784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D7E5E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transparent, deployment-normalized screening approach for identifying monitored locations that deserve closer review.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731520" y="4599432"/>
            <a:ext cx="7059168" cy="841248"/>
          </a:xfrm>
          <a:prstGeom prst="roundRect">
            <a:avLst>
              <a:gd name="adj" fmla="val 12000"/>
            </a:avLst>
          </a:prstGeom>
          <a:solidFill>
            <a:srgbClr val="1F485E"/>
          </a:solidFill>
          <a:ln w="10160">
            <a:solidFill>
              <a:srgbClr val="3766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932688" y="4745523"/>
            <a:ext cx="1828800" cy="20159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7FDDD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BOTTOM LINE UP FRONT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932688" y="4914073"/>
            <a:ext cx="6537960" cy="486287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high-burden sensor sites as candidates for closer review — not as a citywide risk ranking.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49808" y="6080760"/>
            <a:ext cx="5760720" cy="2286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BED0D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Navaneeth Bitla  •  October 16,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47472"/>
            <a:ext cx="2339102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D3A5C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WEEK 6  |  RECOMMENDATION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1088136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2800" b="1">
                <a:solidFill>
                  <a:srgbClr val="1D3A5C"/>
                </a:solidFill>
                <a:latin typeface="Aptos Display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FloodNet sensor locations with consistently high normalized flooding burden as candidates for closer review.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847088"/>
            <a:ext cx="8935459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74552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The recommendation connects the flooding signal to a physical location, then checks whether the same locations remain important.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578608"/>
            <a:ext cx="3063240" cy="2331720"/>
          </a:xfrm>
          <a:prstGeom prst="roundRect">
            <a:avLst/>
          </a:prstGeom>
          <a:solidFill>
            <a:srgbClr val="EFF5FA"/>
          </a:solidFill>
          <a:ln>
            <a:solidFill>
              <a:srgbClr val="D6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val 5"/>
          <p:cNvSpPr/>
          <p:nvPr/>
        </p:nvSpPr>
        <p:spPr>
          <a:xfrm>
            <a:off x="859536" y="2788920"/>
            <a:ext cx="502920" cy="502920"/>
          </a:xfrm>
          <a:prstGeom prst="ellipse">
            <a:avLst/>
          </a:prstGeom>
          <a:solidFill>
            <a:srgbClr val="1D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48131" y="2857500"/>
            <a:ext cx="325730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99616" y="2788920"/>
            <a:ext cx="1547668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D3A5C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FIND THE SIGNAL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3401568"/>
            <a:ext cx="25786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200">
                <a:solidFill>
                  <a:srgbClr val="374552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Use severe-and-persistent flooding events per 100 deployment-days instead of raw event counts.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41648" y="2578608"/>
            <a:ext cx="3063240" cy="2331720"/>
          </a:xfrm>
          <a:prstGeom prst="roundRect">
            <a:avLst/>
          </a:prstGeom>
          <a:solidFill>
            <a:srgbClr val="EFF5FA"/>
          </a:solidFill>
          <a:ln>
            <a:solidFill>
              <a:srgbClr val="D6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4242816" y="2788920"/>
            <a:ext cx="502920" cy="502920"/>
          </a:xfrm>
          <a:prstGeom prst="ellipse">
            <a:avLst/>
          </a:prstGeom>
          <a:solidFill>
            <a:srgbClr val="1D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331411" y="2857500"/>
            <a:ext cx="325730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82896" y="2788920"/>
            <a:ext cx="196258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D3A5C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CONNECT IT TO PLACE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70248" y="3401568"/>
            <a:ext cx="25786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200">
                <a:solidFill>
                  <a:srgbClr val="374552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Use the sensor’s street name, borough, latitude, longitude, and location fields.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24927" y="2578608"/>
            <a:ext cx="3063240" cy="2331720"/>
          </a:xfrm>
          <a:prstGeom prst="roundRect">
            <a:avLst/>
          </a:prstGeom>
          <a:solidFill>
            <a:srgbClr val="EFF5FA"/>
          </a:solidFill>
          <a:ln>
            <a:solidFill>
              <a:srgbClr val="D6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7626096" y="2788920"/>
            <a:ext cx="502920" cy="502920"/>
          </a:xfrm>
          <a:prstGeom prst="ellipse">
            <a:avLst/>
          </a:prstGeom>
          <a:solidFill>
            <a:srgbClr val="1D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714691" y="2857500"/>
            <a:ext cx="325730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66175" y="2788920"/>
            <a:ext cx="2082878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D3A5C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VERIFY BEFORE ACTING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53527" y="3401568"/>
            <a:ext cx="25786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200">
                <a:solidFill>
                  <a:srgbClr val="374552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Check whether the same locations stay near the top under reasonable threshold definitions.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5230368"/>
            <a:ext cx="10698480" cy="749808"/>
          </a:xfrm>
          <a:prstGeom prst="roundRect">
            <a:avLst/>
          </a:prstGeom>
          <a:solidFill>
            <a:srgbClr val="1D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96112" y="5404104"/>
            <a:ext cx="850444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Screening recommendation — not a final citywide ranking, because the sensor network is not a random sample of NYC streets.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630936" y="639520"/>
            <a:ext cx="3429000" cy="171907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500" b="1"/>
            </a:pPr>
            <a:r>
              <a:rPr lang="en-US" sz="2200" kern="120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A small group of sensors carries the highest persistent-flood burden — prioritize monitoring there first.</a:t>
            </a:r>
          </a:p>
        </p:txBody>
      </p:sp>
      <p:sp>
        <p:nvSpPr>
          <p:cNvPr id="22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630936" y="2807208"/>
            <a:ext cx="3429000" cy="3410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000" i="1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Screening group shown sensors with at least 30 recorded events; rates are severe + persistent events per 100 deployment-days.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defRPr sz="1000" i="1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1366514"/>
            <a:ext cx="6903720" cy="412497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699713" y="248038"/>
            <a:ext cx="7063721" cy="1159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700" b="1">
                <a:solidFill>
                  <a:srgbClr val="17324D"/>
                </a:solidFill>
                <a:latin typeface="Aptos Display"/>
              </a:defRPr>
            </a:pPr>
            <a:r>
              <a:rPr lang="en-US" sz="3700" kern="1200" dirty="0">
                <a:solidFill>
                  <a:srgbClr val="FFFF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The top three qualifying sensors sit well above the rest.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72499" y="390832"/>
            <a:ext cx="3233585" cy="8736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ts val="1000"/>
              </a:spcBef>
              <a:defRPr sz="800">
                <a:solidFill>
                  <a:srgbClr val="5B6770"/>
                </a:solidFill>
                <a:latin typeface="Aptos"/>
              </a:defRPr>
            </a:pPr>
            <a:r>
              <a:rPr lang="en-US" sz="1600" kern="1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FloodNet sensors with ≥30 recorded events; severe + persistent events per 100 deployment-days.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5568" y="1966293"/>
            <a:ext cx="8360862" cy="44521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960057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An interpretable model is the best starting point for FloodNet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34440"/>
            <a:ext cx="4677884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Why this method fits the data and the stakeholder decision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324612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68680" y="2057400"/>
            <a:ext cx="1576072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2,927 events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468880"/>
            <a:ext cx="1059906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296 sensors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926080"/>
            <a:ext cx="2295144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Repeated observations from the same sensors need to be handled appropriately.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60520" y="1828800"/>
            <a:ext cx="324612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389120" y="2057400"/>
            <a:ext cx="1838965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Main outcome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468880"/>
            <a:ext cx="163211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Severe + persistent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926080"/>
            <a:ext cx="248716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Focuses on conditions associated with more serious flood events.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0" y="1828800"/>
            <a:ext cx="324612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909560" y="2057400"/>
            <a:ext cx="1510350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Key factors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9560" y="2468880"/>
            <a:ext cx="101822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4 variables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2926080"/>
            <a:ext cx="22402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Tidal influence, season, sensor height, and borough.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4160520"/>
            <a:ext cx="1954574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METHOD TRADE-OFF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617720"/>
            <a:ext cx="5257800" cy="1417320"/>
          </a:xfrm>
          <a:prstGeom prst="roundRect">
            <a:avLst/>
          </a:prstGeom>
          <a:solidFill>
            <a:srgbClr val="EBF4EF"/>
          </a:solidFill>
          <a:ln>
            <a:solidFill>
              <a:srgbClr val="B4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68680" y="4828032"/>
            <a:ext cx="3031086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CHOSEN: Interpretable approach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285232"/>
            <a:ext cx="4224233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Clearer to explain and defend to flood-management stakeholders.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4617720"/>
            <a:ext cx="5257800" cy="1417320"/>
          </a:xfrm>
          <a:prstGeom prst="roundRect">
            <a:avLst/>
          </a:prstGeom>
          <a:solidFill>
            <a:srgbClr val="F4F1EB"/>
          </a:solidFill>
          <a:ln>
            <a:solidFill>
              <a:srgbClr val="D2C8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492240" y="4828032"/>
            <a:ext cx="3224665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ALTERNATIVE: Flexible ML model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5285232"/>
            <a:ext cx="3881191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More flexibility for complex patterns, but harder to explain.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0040"/>
            <a:ext cx="10972800" cy="87408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dirty="0">
                <a:solidFill>
                  <a:srgbClr val="1B364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high-burden FloodNet sensor locations as candidates for closer review—not a citywide ranking.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170432"/>
            <a:ext cx="10789920" cy="28931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969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shortlist is a screening signal; check whether it holds under reasonable definitions of severe and persistent flooding.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" y="1828800"/>
            <a:ext cx="3493008" cy="2011680"/>
          </a:xfrm>
          <a:prstGeom prst="roundRect">
            <a:avLst/>
          </a:prstGeom>
          <a:solidFill>
            <a:srgbClr val="F2F7F9"/>
          </a:solidFill>
          <a:ln>
            <a:solidFill>
              <a:srgbClr val="D5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21792" y="1828800"/>
            <a:ext cx="91440" cy="2011680"/>
          </a:xfrm>
          <a:prstGeom prst="rect">
            <a:avLst/>
          </a:prstGeom>
          <a:solidFill>
            <a:srgbClr val="007D77"/>
          </a:solidFill>
          <a:ln>
            <a:solidFill>
              <a:srgbClr val="00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3127248" cy="2585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7D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THE DATA SHOW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23160"/>
            <a:ext cx="3108960" cy="9971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B364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Among sensors with at least 30 recorded events, three locations have much higher normalized severe-and-persistent burden.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52544" y="1828800"/>
            <a:ext cx="3493008" cy="2011680"/>
          </a:xfrm>
          <a:prstGeom prst="roundRect">
            <a:avLst/>
          </a:prstGeom>
          <a:solidFill>
            <a:srgbClr val="F2F7F9"/>
          </a:solidFill>
          <a:ln>
            <a:solidFill>
              <a:srgbClr val="D5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352544" y="1828800"/>
            <a:ext cx="91440" cy="2011680"/>
          </a:xfrm>
          <a:prstGeom prst="rect">
            <a:avLst/>
          </a:prstGeom>
          <a:solidFill>
            <a:srgbClr val="B55334"/>
          </a:solidFill>
          <a:ln>
            <a:solidFill>
              <a:srgbClr val="B55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53712" y="2011680"/>
            <a:ext cx="3127248" cy="2585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553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NORMALIZE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2423160"/>
            <a:ext cx="3108960" cy="12344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B364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Rates are expressed per 100 deployment-days, so sensors with longer operating histories are not favored simply for recording more events.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83296" y="1828800"/>
            <a:ext cx="3493008" cy="2011680"/>
          </a:xfrm>
          <a:prstGeom prst="roundRect">
            <a:avLst/>
          </a:prstGeom>
          <a:solidFill>
            <a:srgbClr val="F2F7F9"/>
          </a:solidFill>
          <a:ln>
            <a:solidFill>
              <a:srgbClr val="D5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083296" y="1828800"/>
            <a:ext cx="91440" cy="2011680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284464" y="2011680"/>
            <a:ext cx="3127248" cy="2585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B364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MUST BE CHECKED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4464" y="2423160"/>
            <a:ext cx="3108960" cy="9971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B364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Compare the shortlist across reasonable depth and duration thresholds, then connect each sensor ID to its street-level location.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" y="4096512"/>
            <a:ext cx="10954512" cy="1078992"/>
          </a:xfrm>
          <a:prstGeom prst="roundRect">
            <a:avLst/>
          </a:prstGeom>
          <a:solidFill>
            <a:srgbClr val="FAEFE9"/>
          </a:solidFill>
          <a:ln>
            <a:solidFill>
              <a:srgbClr val="FAE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59536" y="4233672"/>
            <a:ext cx="2194560" cy="2431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B553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 3 SCREENING RATES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" y="4553712"/>
            <a:ext cx="640080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B364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17.68  •  17.07  •  14.48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52360" y="4462272"/>
            <a:ext cx="3703320" cy="27392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B364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Severe + persistent events per 100 deployment-days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532120"/>
            <a:ext cx="10881360" cy="44319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969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Important limitation: FloodNet sensors are not a random sample of every NYC street. These values identify candidate sensor locations for review, not the definitive “worst” streets citywide.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236208"/>
            <a:ext cx="10789920" cy="19697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969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Source: NYC FloodNet event summaries and sensor-deployment metadata. Screening threshold: depth ≥ 4 in and duration ≥ 120 min.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32520" y="6519672"/>
            <a:ext cx="2834640" cy="19697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969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MSDS 692 • FLOODNET • WEEK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8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85216" y="182880"/>
            <a:ext cx="4114800" cy="20116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00848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&amp;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454923"/>
            <a:ext cx="10972800" cy="47089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 i="0">
                <a:solidFill>
                  <a:srgbClr val="14314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Two linked datasets connect flood events to real places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033560"/>
            <a:ext cx="10972800" cy="255455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5B6C7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Event summaries tell us what happened; deployment metadata tell us where and for how long a sensor was deployed.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28816"/>
            <a:ext cx="10991088" cy="10972"/>
          </a:xfrm>
          <a:prstGeom prst="rect">
            <a:avLst/>
          </a:prstGeom>
          <a:solidFill>
            <a:srgbClr val="D5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12648" y="6567577"/>
            <a:ext cx="6858000" cy="17851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 i="0">
                <a:solidFill>
                  <a:srgbClr val="5B6C7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MSDS 692  •  FLOODNET  •  FINAL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67577"/>
            <a:ext cx="640080" cy="17851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 i="0">
                <a:solidFill>
                  <a:srgbClr val="5B6C7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7/10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" y="1554480"/>
            <a:ext cx="5394960" cy="1572768"/>
          </a:xfrm>
          <a:prstGeom prst="roundRect">
            <a:avLst>
              <a:gd name="adj" fmla="val 12000"/>
            </a:avLst>
          </a:prstGeom>
          <a:solidFill>
            <a:srgbClr val="F6F9FB"/>
          </a:solidFill>
          <a:ln w="8890">
            <a:solidFill>
              <a:srgbClr val="D5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12648" y="1645920"/>
            <a:ext cx="54864" cy="1389888"/>
          </a:xfrm>
          <a:prstGeom prst="rect">
            <a:avLst/>
          </a:prstGeom>
          <a:solidFill>
            <a:srgbClr val="008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04672" y="1682495"/>
            <a:ext cx="5010912" cy="25603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00848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 FLOODNET EVENT SUMMARIES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1993391"/>
            <a:ext cx="5010912" cy="70942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 i="0">
                <a:solidFill>
                  <a:srgbClr val="233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One row represents one event at one sensor.</a:t>
            </a:r>
          </a:p>
          <a:p>
            <a:pPr algn="l">
              <a:spcAft>
                <a:spcPts val="300"/>
              </a:spcAft>
            </a:pPr>
            <a:r>
              <a:rPr sz="1250" b="0" i="0">
                <a:solidFill>
                  <a:srgbClr val="233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Fields include start/end time, maximum depth and event duration.</a:t>
            </a:r>
          </a:p>
          <a:p>
            <a:pPr algn="l">
              <a:spcAft>
                <a:spcPts val="300"/>
              </a:spcAft>
            </a:pPr>
            <a:r>
              <a:rPr sz="1250" b="0" i="0">
                <a:solidFill>
                  <a:srgbClr val="233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Supports defining severe-and-persistent events.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0488" y="1554480"/>
            <a:ext cx="5394960" cy="1572768"/>
          </a:xfrm>
          <a:prstGeom prst="roundRect">
            <a:avLst>
              <a:gd name="adj" fmla="val 12000"/>
            </a:avLst>
          </a:prstGeom>
          <a:solidFill>
            <a:srgbClr val="F6F9FB"/>
          </a:solidFill>
          <a:ln w="8890">
            <a:solidFill>
              <a:srgbClr val="D5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199631" y="1645920"/>
            <a:ext cx="54864" cy="1389888"/>
          </a:xfrm>
          <a:prstGeom prst="rect">
            <a:avLst/>
          </a:prstGeom>
          <a:solidFill>
            <a:srgbClr val="2B7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391655" y="1682495"/>
            <a:ext cx="5010912" cy="25603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2B77A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 SENSOR DEPLOYMENT METADATA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1655" y="1993391"/>
            <a:ext cx="5010912" cy="90178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 i="0">
                <a:solidFill>
                  <a:srgbClr val="233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Sensor ID links each event to its location.</a:t>
            </a:r>
          </a:p>
          <a:p>
            <a:pPr algn="l">
              <a:spcAft>
                <a:spcPts val="300"/>
              </a:spcAft>
            </a:pPr>
            <a:r>
              <a:rPr sz="1250" b="0" i="0">
                <a:solidFill>
                  <a:srgbClr val="233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Adds street, borough, coordinates, deployment dates, tidal influence and ground height.</a:t>
            </a:r>
          </a:p>
          <a:p>
            <a:pPr algn="l">
              <a:spcAft>
                <a:spcPts val="300"/>
              </a:spcAft>
            </a:pPr>
            <a:r>
              <a:rPr sz="1250" b="0" i="0">
                <a:solidFill>
                  <a:srgbClr val="233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Enables deployment-window checks and site context.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" y="3328416"/>
            <a:ext cx="10981944" cy="969264"/>
          </a:xfrm>
          <a:prstGeom prst="roundRect">
            <a:avLst>
              <a:gd name="adj" fmla="val 12000"/>
            </a:avLst>
          </a:prstGeom>
          <a:solidFill>
            <a:srgbClr val="EBF3F8"/>
          </a:solidFill>
          <a:ln w="6350">
            <a:solidFill>
              <a:srgbClr val="EBF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04672" y="3456432"/>
            <a:ext cx="192024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14400" y="3500098"/>
            <a:ext cx="1700784" cy="42473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 i="0">
                <a:solidFill>
                  <a:srgbClr val="14314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2,929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892732"/>
            <a:ext cx="1700784" cy="224677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0" i="0">
                <a:solidFill>
                  <a:srgbClr val="5B6C7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raw event rows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98064" y="3542919"/>
            <a:ext cx="384048" cy="39395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 i="0">
                <a:solidFill>
                  <a:srgbClr val="00848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27832" y="3456432"/>
            <a:ext cx="192024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337560" y="3500098"/>
            <a:ext cx="1700784" cy="42473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 i="0">
                <a:solidFill>
                  <a:srgbClr val="00848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2,927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37560" y="3892732"/>
            <a:ext cx="1700784" cy="224677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0" i="0">
                <a:solidFill>
                  <a:srgbClr val="5B6C7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inside deployment window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21224" y="3542919"/>
            <a:ext cx="384048" cy="39395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 i="0">
                <a:solidFill>
                  <a:srgbClr val="00848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50992" y="3456432"/>
            <a:ext cx="192024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760720" y="3500098"/>
            <a:ext cx="1700784" cy="42473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 i="0">
                <a:solidFill>
                  <a:srgbClr val="14314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296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60720" y="3892732"/>
            <a:ext cx="1700784" cy="224677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0" i="0">
                <a:solidFill>
                  <a:srgbClr val="5B6C7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sensors in event records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99831" y="3590982"/>
            <a:ext cx="987552" cy="224677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00848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Sensor ID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99831" y="3803691"/>
            <a:ext cx="1188720" cy="20159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5B6C7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stable join key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80576" y="3455996"/>
            <a:ext cx="2057400" cy="24776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4314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this combination?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80576" y="3739896"/>
            <a:ext cx="2057400" cy="38404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233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Depth + duration + exposure time + location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03504" y="4507992"/>
            <a:ext cx="10981944" cy="1078992"/>
          </a:xfrm>
          <a:prstGeom prst="roundRect">
            <a:avLst>
              <a:gd name="adj" fmla="val 12000"/>
            </a:avLst>
          </a:prstGeom>
          <a:solidFill>
            <a:srgbClr val="FCF0E9"/>
          </a:solidFill>
          <a:ln w="7620">
            <a:solidFill>
              <a:srgbClr val="FCF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32104" y="4650236"/>
            <a:ext cx="2057400" cy="20928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C252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IMPORTANT SNAPSHOT LIMIT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16352" y="4660448"/>
            <a:ext cx="8394192" cy="618631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20" b="0" i="0">
                <a:solidFill>
                  <a:srgbClr val="233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reported results use the local event extract downloaded August 29, 2026. The project audit noted that the public feed was later updated (October 1, 2026). These numbers are snapshot-specific; refresh both files and rerun the pipeline before an operational decision.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5795634"/>
            <a:ext cx="640080" cy="186205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5B6C7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Sources: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34440" y="5788152"/>
            <a:ext cx="10287000" cy="2183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819" u="sng">
                <a:solidFill>
                  <a:srgbClr val="5B6C7A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NYC Open Data — FloodNet Event Summaries</a:t>
            </a:r>
            <a:r>
              <a:rPr sz="819">
                <a:solidFill>
                  <a:srgbClr val="5B6C7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|   </a:t>
            </a:r>
            <a:r>
              <a:rPr sz="819" u="sng">
                <a:solidFill>
                  <a:srgbClr val="5B6C7A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Sensor Deployment Metadata</a:t>
            </a:r>
            <a:r>
              <a:rPr sz="819">
                <a:solidFill>
                  <a:srgbClr val="5B6C7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|   </a:t>
            </a:r>
            <a:r>
              <a:rPr sz="819" u="sng">
                <a:solidFill>
                  <a:srgbClr val="5B6C7A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FloodNet Methodology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8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85216" y="182880"/>
            <a:ext cx="4114800" cy="20116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00848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MEASUREMENT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454923"/>
            <a:ext cx="10972800" cy="47089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 i="0">
                <a:solidFill>
                  <a:srgbClr val="14314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main outcome requires both depth and duration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033560"/>
            <a:ext cx="10972800" cy="255455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5B6C7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cutoffs are project-defined screening rules—not FloodNet’s official event definition or a universal danger standard.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28816"/>
            <a:ext cx="10991088" cy="10972"/>
          </a:xfrm>
          <a:prstGeom prst="rect">
            <a:avLst/>
          </a:prstGeom>
          <a:solidFill>
            <a:srgbClr val="D5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12648" y="6567577"/>
            <a:ext cx="6858000" cy="17851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 i="0">
                <a:solidFill>
                  <a:srgbClr val="5B6C7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MSDS 692  •  FLOODNET  •  FINAL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67577"/>
            <a:ext cx="640080" cy="17851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 i="0">
                <a:solidFill>
                  <a:srgbClr val="5B6C7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8/10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" y="1499616"/>
            <a:ext cx="3493008" cy="1133856"/>
          </a:xfrm>
          <a:prstGeom prst="roundRect">
            <a:avLst>
              <a:gd name="adj" fmla="val 12000"/>
            </a:avLst>
          </a:prstGeom>
          <a:solidFill>
            <a:srgbClr val="FCF0E9"/>
          </a:solidFill>
          <a:ln w="8890">
            <a:solidFill>
              <a:srgbClr val="D5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12648" y="1591056"/>
            <a:ext cx="54864" cy="950976"/>
          </a:xfrm>
          <a:prstGeom prst="rect">
            <a:avLst/>
          </a:prstGeom>
          <a:solidFill>
            <a:srgbClr val="C25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04672" y="1627631"/>
            <a:ext cx="3108960" cy="25603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C252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SEVERE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1938528"/>
            <a:ext cx="3108960" cy="27084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233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Maximum depth ≥ 4 inches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52544" y="1499616"/>
            <a:ext cx="3493008" cy="1133856"/>
          </a:xfrm>
          <a:prstGeom prst="roundRect">
            <a:avLst>
              <a:gd name="adj" fmla="val 12000"/>
            </a:avLst>
          </a:prstGeom>
          <a:solidFill>
            <a:srgbClr val="EBF3F8"/>
          </a:solidFill>
          <a:ln w="8890">
            <a:solidFill>
              <a:srgbClr val="D5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361688" y="1591056"/>
            <a:ext cx="54864" cy="950976"/>
          </a:xfrm>
          <a:prstGeom prst="rect">
            <a:avLst/>
          </a:prstGeom>
          <a:solidFill>
            <a:srgbClr val="2B7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553712" y="1627631"/>
            <a:ext cx="3108960" cy="25603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2B77A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PERSISTENT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3712" y="1938528"/>
            <a:ext cx="3108960" cy="27084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233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Event duration ≥ 120 minutes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01583" y="1499616"/>
            <a:ext cx="3493008" cy="1133856"/>
          </a:xfrm>
          <a:prstGeom prst="roundRect">
            <a:avLst>
              <a:gd name="adj" fmla="val 12000"/>
            </a:avLst>
          </a:prstGeom>
          <a:solidFill>
            <a:srgbClr val="E1F3F2"/>
          </a:solidFill>
          <a:ln w="8890">
            <a:solidFill>
              <a:srgbClr val="D5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8110727" y="1591056"/>
            <a:ext cx="54864" cy="950976"/>
          </a:xfrm>
          <a:prstGeom prst="rect">
            <a:avLst/>
          </a:prstGeom>
          <a:solidFill>
            <a:srgbClr val="008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302752" y="1627631"/>
            <a:ext cx="3108960" cy="25603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00848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PRIMARY MODEL OUTCOME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2752" y="1938528"/>
            <a:ext cx="3108960" cy="26161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40" b="0" i="0">
                <a:solidFill>
                  <a:srgbClr val="233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Severe AND persistent in the same event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" y="2788920"/>
            <a:ext cx="2011680" cy="804672"/>
          </a:xfrm>
          <a:prstGeom prst="roundRect">
            <a:avLst>
              <a:gd name="adj" fmla="val 12000"/>
            </a:avLst>
          </a:prstGeom>
          <a:solidFill>
            <a:srgbClr val="FCF0E9"/>
          </a:solidFill>
          <a:ln w="7620">
            <a:solidFill>
              <a:srgbClr val="FCF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31520" y="2832586"/>
            <a:ext cx="1792224" cy="42473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 i="0">
                <a:solidFill>
                  <a:srgbClr val="C252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1,294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284657"/>
            <a:ext cx="1792224" cy="224677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0" i="0">
                <a:solidFill>
                  <a:srgbClr val="5B6C7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severe events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61488" y="2788920"/>
            <a:ext cx="2011680" cy="804672"/>
          </a:xfrm>
          <a:prstGeom prst="roundRect">
            <a:avLst>
              <a:gd name="adj" fmla="val 12000"/>
            </a:avLst>
          </a:prstGeom>
          <a:solidFill>
            <a:srgbClr val="EBF3F8"/>
          </a:solidFill>
          <a:ln w="7620">
            <a:solidFill>
              <a:srgbClr val="EBF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871216" y="2832586"/>
            <a:ext cx="1792224" cy="42473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 i="0">
                <a:solidFill>
                  <a:srgbClr val="2B77A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1,371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71216" y="3284657"/>
            <a:ext cx="1792224" cy="224677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0" i="0">
                <a:solidFill>
                  <a:srgbClr val="5B6C7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persistent events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901184" y="2788920"/>
            <a:ext cx="2011680" cy="804672"/>
          </a:xfrm>
          <a:prstGeom prst="roundRect">
            <a:avLst>
              <a:gd name="adj" fmla="val 12000"/>
            </a:avLst>
          </a:prstGeom>
          <a:solidFill>
            <a:srgbClr val="E1F3F2"/>
          </a:solidFill>
          <a:ln w="7620">
            <a:solidFill>
              <a:srgbClr val="E1F3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010912" y="2832586"/>
            <a:ext cx="1792224" cy="42473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2400" b="1" i="0">
                <a:solidFill>
                  <a:srgbClr val="00848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945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10912" y="3284657"/>
            <a:ext cx="1792224" cy="224677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0" i="0">
                <a:solidFill>
                  <a:srgbClr val="5B6C7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meet both criteria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132320" y="2788920"/>
            <a:ext cx="4453128" cy="804672"/>
          </a:xfrm>
          <a:prstGeom prst="roundRect">
            <a:avLst>
              <a:gd name="adj" fmla="val 12000"/>
            </a:avLst>
          </a:prstGeom>
          <a:solidFill>
            <a:srgbClr val="F6F9FB"/>
          </a:solidFill>
          <a:ln w="8890">
            <a:solidFill>
              <a:srgbClr val="D5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342631" y="2861859"/>
            <a:ext cx="2194560" cy="20159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00848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PRIMARY SCREENING METRIC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42631" y="3108960"/>
            <a:ext cx="3986784" cy="2743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4314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(qualifying events ÷ deployment days) × 100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03504" y="3822191"/>
            <a:ext cx="6629400" cy="1554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D5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32104" y="3946147"/>
            <a:ext cx="6199632" cy="20928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00848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 SCREENING RATES • SENSORS WITH ≥30 RECORDED EVENTS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" y="4226534"/>
            <a:ext cx="274320" cy="21544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40" b="1" i="0">
                <a:solidFill>
                  <a:srgbClr val="C252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61288" y="4228137"/>
            <a:ext cx="4892040" cy="21223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19" b="0" i="0">
                <a:solidFill>
                  <a:srgbClr val="233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BX — Ditmars St / Hunter Ave 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53912" y="4226534"/>
            <a:ext cx="722376" cy="21544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1040" b="1" i="0">
                <a:solidFill>
                  <a:srgbClr val="14314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17.68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7824" y="4464277"/>
            <a:ext cx="274320" cy="21544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40" b="1" i="0">
                <a:solidFill>
                  <a:srgbClr val="C252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61288" y="4465880"/>
            <a:ext cx="4892040" cy="21223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19" b="0" i="0">
                <a:solidFill>
                  <a:srgbClr val="233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 — Beach 84 St (2)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53912" y="4464277"/>
            <a:ext cx="722376" cy="21544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1040" b="1" i="0">
                <a:solidFill>
                  <a:srgbClr val="14314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17.07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7824" y="4702022"/>
            <a:ext cx="274320" cy="21544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40" b="1" i="0">
                <a:solidFill>
                  <a:srgbClr val="C252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61288" y="4703625"/>
            <a:ext cx="4892040" cy="21223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19" b="0" i="0">
                <a:solidFill>
                  <a:srgbClr val="233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 — Beach 84 St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53912" y="4702022"/>
            <a:ext cx="722376" cy="21544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1040" b="1" i="0">
                <a:solidFill>
                  <a:srgbClr val="14314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14.48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7824" y="4939766"/>
            <a:ext cx="274320" cy="21544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40" b="1" i="0">
                <a:solidFill>
                  <a:srgbClr val="5B6C7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61288" y="4941369"/>
            <a:ext cx="4892040" cy="21223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19" b="0" i="0">
                <a:solidFill>
                  <a:srgbClr val="233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 — Brookville Blvd area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53912" y="4939766"/>
            <a:ext cx="722376" cy="21544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1040" b="1" i="0">
                <a:solidFill>
                  <a:srgbClr val="14314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6.26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424927" y="3822191"/>
            <a:ext cx="4160520" cy="1554480"/>
          </a:xfrm>
          <a:prstGeom prst="roundRect">
            <a:avLst>
              <a:gd name="adj" fmla="val 12000"/>
            </a:avLst>
          </a:prstGeom>
          <a:solidFill>
            <a:srgbClr val="EBF3F8"/>
          </a:solidFill>
          <a:ln w="8890">
            <a:solidFill>
              <a:srgbClr val="D5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7434071" y="3913631"/>
            <a:ext cx="54864" cy="1371600"/>
          </a:xfrm>
          <a:prstGeom prst="rect">
            <a:avLst/>
          </a:prstGeom>
          <a:solidFill>
            <a:srgbClr val="2B7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7626096" y="3962037"/>
            <a:ext cx="3776472" cy="232371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2B77A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THIS METRIC?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26096" y="4261104"/>
            <a:ext cx="3776472" cy="6447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10" b="0" i="0">
                <a:solidFill>
                  <a:srgbClr val="233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Raw totals favor sensors with longer observation histories.</a:t>
            </a:r>
          </a:p>
          <a:p>
            <a:pPr algn="l">
              <a:spcAft>
                <a:spcPts val="300"/>
              </a:spcAft>
            </a:pPr>
            <a:r>
              <a:rPr sz="1110" b="0" i="0">
                <a:solidFill>
                  <a:srgbClr val="233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The rate adjusts for nominal deployment time.</a:t>
            </a:r>
          </a:p>
          <a:p>
            <a:pPr algn="l">
              <a:spcAft>
                <a:spcPts val="300"/>
              </a:spcAft>
            </a:pPr>
            <a:r>
              <a:rPr sz="1110" b="0" i="0">
                <a:solidFill>
                  <a:srgbClr val="233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It does not correct for every outage or missing reading.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03504" y="5532120"/>
            <a:ext cx="10981944" cy="640080"/>
          </a:xfrm>
          <a:prstGeom prst="roundRect">
            <a:avLst>
              <a:gd name="adj" fmla="val 12000"/>
            </a:avLst>
          </a:prstGeom>
          <a:solidFill>
            <a:srgbClr val="FCF0E9"/>
          </a:solidFill>
          <a:ln w="6350">
            <a:solidFill>
              <a:srgbClr val="FCF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813816" y="5637788"/>
            <a:ext cx="1600200" cy="20928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C252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Interpretation guardrail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468880" y="5559127"/>
            <a:ext cx="8778240" cy="403187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30" b="0" i="0">
                <a:solidFill>
                  <a:srgbClr val="233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These are rates—not percentages, probabilities, or model-accuracy scores. This project screens observed sites; it does not yet validate a future-flood prediction model.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8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85216" y="182880"/>
            <a:ext cx="4114800" cy="20116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00848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&amp;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454923"/>
            <a:ext cx="10972800" cy="47089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 i="0">
                <a:solidFill>
                  <a:srgbClr val="14314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GEE addresses repeated events at the same sensor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033560"/>
            <a:ext cx="10972800" cy="255455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5B6C7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model is an explanatory association analysis; the operational shortlist comes from the descriptive normalized rate.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28816"/>
            <a:ext cx="10991088" cy="10972"/>
          </a:xfrm>
          <a:prstGeom prst="rect">
            <a:avLst/>
          </a:prstGeom>
          <a:solidFill>
            <a:srgbClr val="D5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12648" y="6567577"/>
            <a:ext cx="6858000" cy="17851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 i="0">
                <a:solidFill>
                  <a:srgbClr val="5B6C7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MSDS 692  •  FLOODNET  •  FINAL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67577"/>
            <a:ext cx="640080" cy="17851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 i="0">
                <a:solidFill>
                  <a:srgbClr val="5B6C7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9/10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" y="1554480"/>
            <a:ext cx="5532120" cy="3401568"/>
          </a:xfrm>
          <a:prstGeom prst="roundRect">
            <a:avLst>
              <a:gd name="adj" fmla="val 12000"/>
            </a:avLst>
          </a:prstGeom>
          <a:solidFill>
            <a:srgbClr val="F6F9FB"/>
          </a:solidFill>
          <a:ln w="8890">
            <a:solidFill>
              <a:srgbClr val="D5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50392" y="1737360"/>
            <a:ext cx="4206240" cy="2286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00848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SELECTED STARTING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2038954"/>
            <a:ext cx="4956048" cy="34778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1" i="0">
                <a:solidFill>
                  <a:srgbClr val="14314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 estimated with GEE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578608"/>
            <a:ext cx="4892040" cy="98334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20" b="0" i="0">
                <a:solidFill>
                  <a:srgbClr val="233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Cluster: Sensor ID</a:t>
            </a:r>
          </a:p>
          <a:p>
            <a:pPr algn="l">
              <a:spcAft>
                <a:spcPts val="300"/>
              </a:spcAft>
            </a:pPr>
            <a:r>
              <a:rPr sz="1320" b="0" i="0">
                <a:solidFill>
                  <a:srgbClr val="233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Working correlation: exchangeable</a:t>
            </a:r>
          </a:p>
          <a:p>
            <a:pPr algn="l">
              <a:spcAft>
                <a:spcPts val="300"/>
              </a:spcAft>
            </a:pPr>
            <a:r>
              <a:rPr sz="1320" b="0" i="0">
                <a:solidFill>
                  <a:srgbClr val="233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Uncertainty: robust / sandwich standard errors</a:t>
            </a:r>
          </a:p>
          <a:p>
            <a:pPr algn="l">
              <a:spcAft>
                <a:spcPts val="300"/>
              </a:spcAft>
            </a:pPr>
            <a:r>
              <a:rPr sz="1320" b="0" i="0">
                <a:solidFill>
                  <a:srgbClr val="233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Outcome: severe-and-persistent event (binary)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3795997"/>
            <a:ext cx="1508760" cy="21698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00848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Factors considered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" y="4114800"/>
            <a:ext cx="1188720" cy="4206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7620">
            <a:solidFill>
              <a:srgbClr val="D5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32688" y="4210599"/>
            <a:ext cx="1115568" cy="20159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50" b="1" i="0" dirty="0">
                <a:solidFill>
                  <a:srgbClr val="14314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Tidal influence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157984" y="4114800"/>
            <a:ext cx="777240" cy="4206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7620">
            <a:solidFill>
              <a:srgbClr val="D5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194560" y="4210599"/>
            <a:ext cx="704088" cy="20159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50" b="1" i="0">
                <a:solidFill>
                  <a:srgbClr val="14314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Season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999232" y="4114800"/>
            <a:ext cx="1600200" cy="4206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7620">
            <a:solidFill>
              <a:srgbClr val="D5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035808" y="4210599"/>
            <a:ext cx="1527048" cy="20159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50" b="1" i="0">
                <a:solidFill>
                  <a:srgbClr val="14314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Sensor ground height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63440" y="4114800"/>
            <a:ext cx="822960" cy="4206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7620">
            <a:solidFill>
              <a:srgbClr val="D5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700016" y="4210599"/>
            <a:ext cx="749808" cy="20159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50" b="1" i="0">
                <a:solidFill>
                  <a:srgbClr val="14314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Borough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" y="4553554"/>
            <a:ext cx="4910328" cy="34778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1">
                <a:solidFill>
                  <a:srgbClr val="5B6C7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GEE? The 2,927 events come from 296 sensors; repeated events within one sensor may be correlated.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45936" y="1554480"/>
            <a:ext cx="5239512" cy="1481328"/>
          </a:xfrm>
          <a:prstGeom prst="roundRect">
            <a:avLst>
              <a:gd name="adj" fmla="val 12000"/>
            </a:avLst>
          </a:prstGeom>
          <a:solidFill>
            <a:srgbClr val="EBF3F8"/>
          </a:solidFill>
          <a:ln w="8890">
            <a:solidFill>
              <a:srgbClr val="D5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355080" y="1645920"/>
            <a:ext cx="54864" cy="1298448"/>
          </a:xfrm>
          <a:prstGeom prst="rect">
            <a:avLst/>
          </a:prstGeom>
          <a:solidFill>
            <a:srgbClr val="2B7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547104" y="1695864"/>
            <a:ext cx="4855464" cy="22929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30" b="1" i="0">
                <a:solidFill>
                  <a:srgbClr val="2B77A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NOT ORDINARY LOGISTIC REGRESSION?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47104" y="1993391"/>
            <a:ext cx="4855464" cy="40934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233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assumes independent event rows. Repeated events within a sensor violate that simplifying assumption; GEE models within-sensor correlation.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45936" y="3191256"/>
            <a:ext cx="5239512" cy="1481328"/>
          </a:xfrm>
          <a:prstGeom prst="roundRect">
            <a:avLst>
              <a:gd name="adj" fmla="val 12000"/>
            </a:avLst>
          </a:prstGeom>
          <a:solidFill>
            <a:srgbClr val="E1F3F2"/>
          </a:solidFill>
          <a:ln w="8890">
            <a:solidFill>
              <a:srgbClr val="D5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6355080" y="3282696"/>
            <a:ext cx="54864" cy="1298448"/>
          </a:xfrm>
          <a:prstGeom prst="rect">
            <a:avLst/>
          </a:prstGeom>
          <a:solidFill>
            <a:srgbClr val="008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547104" y="3332641"/>
            <a:ext cx="4855464" cy="22929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30" b="1" i="0">
                <a:solidFill>
                  <a:srgbClr val="00848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NOT RANDOM FOREST FIRST?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47104" y="3630168"/>
            <a:ext cx="4855464" cy="58631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233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forest can capture nonlinear patterns, but it is less direct for explaining adjusted associations. Consider it only if validated prediction changes the practical shortlist.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03504" y="5166360"/>
            <a:ext cx="10981944" cy="1005840"/>
          </a:xfrm>
          <a:prstGeom prst="roundRect">
            <a:avLst>
              <a:gd name="adj" fmla="val 12000"/>
            </a:avLst>
          </a:prstGeom>
          <a:solidFill>
            <a:srgbClr val="FCF0E9"/>
          </a:solidFill>
          <a:ln w="7620">
            <a:solidFill>
              <a:srgbClr val="FCF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32104" y="5263619"/>
            <a:ext cx="1755648" cy="37241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1" i="0">
                <a:solidFill>
                  <a:srgbClr val="C252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MODEL-INTEGRITY CHECK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97480" y="5380863"/>
            <a:ext cx="8567928" cy="39395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33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earlier Boolean outcome coding can reverse which class an odds ratio describes. Do not quote an adjusted odds ratio as final until the outcome is explicitly coded 0/1, reference categories are verified, and the GEE is rerun. The sensor-rate screen is a separate descriptive result.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8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85216" y="182880"/>
            <a:ext cx="4114800" cy="20116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00848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DECISION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454923"/>
            <a:ext cx="10972800" cy="47089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 i="0">
                <a:solidFill>
                  <a:srgbClr val="14314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defensible solution is a screening workflow—not a citywide risk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033560"/>
            <a:ext cx="10972800" cy="255455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5B6C7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the evidence to direct the next check; do not jump from a rate ranking straight to expensive mitigation.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28816"/>
            <a:ext cx="10991088" cy="10972"/>
          </a:xfrm>
          <a:prstGeom prst="rect">
            <a:avLst/>
          </a:prstGeom>
          <a:solidFill>
            <a:srgbClr val="D5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12648" y="6567577"/>
            <a:ext cx="6858000" cy="17851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 i="0">
                <a:solidFill>
                  <a:srgbClr val="5B6C7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MSDS 692  •  FLOODNET  •  FINAL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67577"/>
            <a:ext cx="640080" cy="17851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 i="0">
                <a:solidFill>
                  <a:srgbClr val="5B6C7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10/10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" y="1591056"/>
            <a:ext cx="3474720" cy="1517904"/>
          </a:xfrm>
          <a:prstGeom prst="roundRect">
            <a:avLst>
              <a:gd name="adj" fmla="val 12000"/>
            </a:avLst>
          </a:prstGeom>
          <a:solidFill>
            <a:srgbClr val="E1F3F2"/>
          </a:solidFill>
          <a:ln w="8890">
            <a:solidFill>
              <a:srgbClr val="D5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12648" y="1682496"/>
            <a:ext cx="54864" cy="1335024"/>
          </a:xfrm>
          <a:prstGeom prst="rect">
            <a:avLst/>
          </a:prstGeom>
          <a:solidFill>
            <a:srgbClr val="008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04672" y="1727055"/>
            <a:ext cx="3090672" cy="24006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848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 SCREEN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029967"/>
            <a:ext cx="3090672" cy="61863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20" b="0" i="0">
                <a:solidFill>
                  <a:srgbClr val="233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severe-and-persistent events per 100 deployment-days and retain the ≥30-event eligibility rule as an explicit screening choice.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61688" y="1591056"/>
            <a:ext cx="3474720" cy="1517904"/>
          </a:xfrm>
          <a:prstGeom prst="roundRect">
            <a:avLst>
              <a:gd name="adj" fmla="val 12000"/>
            </a:avLst>
          </a:prstGeom>
          <a:solidFill>
            <a:srgbClr val="EBF3F8"/>
          </a:solidFill>
          <a:ln w="8890">
            <a:solidFill>
              <a:srgbClr val="D5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370831" y="1682496"/>
            <a:ext cx="54864" cy="1335024"/>
          </a:xfrm>
          <a:prstGeom prst="rect">
            <a:avLst/>
          </a:prstGeom>
          <a:solidFill>
            <a:srgbClr val="2B7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562855" y="1727055"/>
            <a:ext cx="3090672" cy="24006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2B77A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 STRESS-TEST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2855" y="2029967"/>
            <a:ext cx="3090672" cy="61863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20" b="0" i="0">
                <a:solidFill>
                  <a:srgbClr val="233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Recompute under alternative depth and duration cutoffs. The top two persisted under some alternatives; the third position was less stable.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19872" y="1591056"/>
            <a:ext cx="3474720" cy="1517904"/>
          </a:xfrm>
          <a:prstGeom prst="roundRect">
            <a:avLst>
              <a:gd name="adj" fmla="val 12000"/>
            </a:avLst>
          </a:prstGeom>
          <a:solidFill>
            <a:srgbClr val="FCF0E9"/>
          </a:solidFill>
          <a:ln w="8890">
            <a:solidFill>
              <a:srgbClr val="D5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8129016" y="1682496"/>
            <a:ext cx="54864" cy="1335024"/>
          </a:xfrm>
          <a:prstGeom prst="rect">
            <a:avLst/>
          </a:prstGeom>
          <a:solidFill>
            <a:srgbClr val="C25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321040" y="1727055"/>
            <a:ext cx="3090672" cy="24006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C252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  VALIDATE ON SITE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029967"/>
            <a:ext cx="3090672" cy="61863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20" b="0" i="0">
                <a:solidFill>
                  <a:srgbClr val="233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Join sensor IDs to streets and coordinates, review field context, and decide whether closer monitoring or inspection is justified.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3504" y="3328416"/>
            <a:ext cx="6784848" cy="1719072"/>
          </a:xfrm>
          <a:prstGeom prst="roundRect">
            <a:avLst>
              <a:gd name="adj" fmla="val 12000"/>
            </a:avLst>
          </a:prstGeom>
          <a:solidFill>
            <a:srgbClr val="F6F9FB"/>
          </a:solidFill>
          <a:ln w="8890">
            <a:solidFill>
              <a:srgbClr val="D5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50392" y="3485101"/>
            <a:ext cx="2926080" cy="21698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00848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BEFORE OPERATIONAL USE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" y="3803904"/>
            <a:ext cx="6199632" cy="68634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233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Refresh the public event and metadata extracts; reproduce all counts/rates.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233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Explicitly recode the model outcome and verify GEE references before reporting coefficients.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233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Add precipitation only if it materially changes the priority order.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71231" y="3328416"/>
            <a:ext cx="4014215" cy="17190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D5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808975" y="3488179"/>
            <a:ext cx="3529584" cy="210827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10" b="1" i="0">
                <a:solidFill>
                  <a:srgbClr val="C252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WOULD CHANGE MY ANSWER?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27264" y="3803904"/>
            <a:ext cx="3456432" cy="84023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233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A refreshed dataset changes the leading sites.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233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The shortlist changes substantially under reasonable thresholds.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233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Site checks contradict the sensor signal.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3504" y="5303520"/>
            <a:ext cx="10981944" cy="804672"/>
          </a:xfrm>
          <a:prstGeom prst="roundRect">
            <a:avLst>
              <a:gd name="adj" fmla="val 12000"/>
            </a:avLst>
          </a:prstGeom>
          <a:solidFill>
            <a:srgbClr val="14314E"/>
          </a:solidFill>
          <a:ln w="6350">
            <a:solidFill>
              <a:srgbClr val="14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59536" y="5432048"/>
            <a:ext cx="1856231" cy="20928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7FDDD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 RECOMMENDATION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0" y="5397300"/>
            <a:ext cx="8449056" cy="461665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2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high normalized FloodNet burden to nominate monitored sites for closer review; validate the data, thresholds and physical locations before allocating major mitigation resources.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78440" y="6110154"/>
            <a:ext cx="960120" cy="224677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r">
              <a:spcAft>
                <a:spcPts val="300"/>
              </a:spcAft>
            </a:pPr>
            <a:r>
              <a:rPr sz="1100" b="1" i="0">
                <a:solidFill>
                  <a:srgbClr val="00848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Questions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Different colored question marks">
            <a:extLst>
              <a:ext uri="{FF2B5EF4-FFF2-40B4-BE49-F238E27FC236}">
                <a16:creationId xmlns:a16="http://schemas.microsoft.com/office/drawing/2014/main" id="{AD6CD57E-0962-D55C-3D6E-EBB341643F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126" t="6484" r="28383" b="-1"/>
          <a:stretch>
            <a:fillRect/>
          </a:stretch>
        </p:blipFill>
        <p:spPr>
          <a:xfrm>
            <a:off x="3733800" y="10"/>
            <a:ext cx="8458200" cy="685799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4498468-DE1B-8018-D71A-23D10013F1DF}"/>
              </a:ext>
            </a:extLst>
          </p:cNvPr>
          <p:cNvSpPr txBox="1"/>
          <p:nvPr/>
        </p:nvSpPr>
        <p:spPr>
          <a:xfrm>
            <a:off x="477981" y="1122363"/>
            <a:ext cx="4023360" cy="320413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1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Thank you </a:t>
            </a: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1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1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 am happy to take any questions 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027063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303</TotalTime>
  <Words>1371</Words>
  <Application>Microsoft Office PowerPoint</Application>
  <PresentationFormat>Widescreen</PresentationFormat>
  <Paragraphs>170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Bitla, Navaneeth Reddy</cp:lastModifiedBy>
  <cp:revision>5</cp:revision>
  <dcterms:created xsi:type="dcterms:W3CDTF">2013-01-27T09:14:16Z</dcterms:created>
  <dcterms:modified xsi:type="dcterms:W3CDTF">2026-10-17T00:52:38Z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6de1d5b-8b4b-4e4e-a8a1-d2976158103f_Enabled">
    <vt:lpwstr>true</vt:lpwstr>
  </property>
  <property fmtid="{D5CDD505-2E9C-101B-9397-08002B2CF9AE}" pid="3" name="MSIP_Label_a6de1d5b-8b4b-4e4e-a8a1-d2976158103f_SetDate">
    <vt:lpwstr>2026-09-22T20:22:15Z</vt:lpwstr>
  </property>
  <property fmtid="{D5CDD505-2E9C-101B-9397-08002B2CF9AE}" pid="4" name="MSIP_Label_a6de1d5b-8b4b-4e4e-a8a1-d2976158103f_Method">
    <vt:lpwstr>Standard</vt:lpwstr>
  </property>
  <property fmtid="{D5CDD505-2E9C-101B-9397-08002B2CF9AE}" pid="5" name="MSIP_Label_a6de1d5b-8b4b-4e4e-a8a1-d2976158103f_Name">
    <vt:lpwstr>defa4170-0d19-0005-0004-bc88714345d2</vt:lpwstr>
  </property>
  <property fmtid="{D5CDD505-2E9C-101B-9397-08002B2CF9AE}" pid="6" name="MSIP_Label_a6de1d5b-8b4b-4e4e-a8a1-d2976158103f_SiteId">
    <vt:lpwstr>ecd4c5d9-c2fe-4522-afd1-f0d20755d9d7</vt:lpwstr>
  </property>
  <property fmtid="{D5CDD505-2E9C-101B-9397-08002B2CF9AE}" pid="7" name="MSIP_Label_a6de1d5b-8b4b-4e4e-a8a1-d2976158103f_ActionId">
    <vt:lpwstr>40470558-d90e-429c-b6b0-7c0d6f2fbb38</vt:lpwstr>
  </property>
  <property fmtid="{D5CDD505-2E9C-101B-9397-08002B2CF9AE}" pid="8" name="MSIP_Label_a6de1d5b-8b4b-4e4e-a8a1-d2976158103f_ContentBits">
    <vt:lpwstr>0</vt:lpwstr>
  </property>
  <property fmtid="{D5CDD505-2E9C-101B-9397-08002B2CF9AE}" pid="9" name="MSIP_Label_a6de1d5b-8b4b-4e4e-a8a1-d2976158103f_Tag">
    <vt:lpwstr>10, 3, 0, 1</vt:lpwstr>
  </property>
</Properties>
</file>